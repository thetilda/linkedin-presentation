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[NAME]. Today I will tell you about LinkedIn. It is a famous website for work and careers. I will talk about how it started, how it grew, and why it is important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is a social network, but it is not for photos or fun videos. It is for work. On LinkedIn, you make a profile — like an online CV. You connect with colleagues, you look for jobs, and you learn new skills. Companies also use it to find new workers. Today, LinkedIn has more than one billion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came from Reid Hoffman. He started the company in December 2002 with a small team of friends and colleagues. At first, they worked in his living room in California. The website started on the fifth of May, 2003. At the beginning, it was very small, and only a few people 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grew step by step. In 2004, it had its first million members. Then, in May 2011, the company went public. This means that anyone could buy its shares on the New York Stock Exchange. On the first day, the share price more than doubled. This showed that investors believed in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LinkedIn is much more than a profile. There is a Jobs section, where you can search and apply for work. There is LinkedIn Learning, with online courses. In 2015, LinkedIn bought a company called Lynda dot com for this. Sales Navigator helps people find business clients. And companies use pages and ads to show their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moment in the history of LinkedIn was 2016. In June, Microsoft announced that it would buy LinkedIn for about twenty-six point two billion dollars. The deal was finished in December. Important: LinkedIn kept its own name and brand, so we still use it as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LinkedIn is huge. It has more than one billion members in over two hundred countries and regions. The headquarters are in Sunnyvale, California. The CEO is Ryan Roslansky. For many professionals and companies, it is the main place to hire people and share business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LinkedIn important for us? First, it helps people find jobs and helps companies find good workers. Second, you can build your personal brand and meet people from your industry. A small tip for students: make a profile now, add a clear photo and a short headline. It will help you later when you look for an internship or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LinkedIn started in a living room in 2002. In 2016, Microsoft bought it. Today, one billion people use it to connect for work and careers. Thank you for listening! Do you have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000000"/>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6748272" y="594360"/>
            <a:ext cx="4846320" cy="5669280"/>
          </a:xfrm>
          <a:prstGeom prst="rect">
            <a:avLst/>
          </a:prstGeom>
        </p:spPr>
      </p:pic>
      <p:sp>
        <p:nvSpPr>
          <p:cNvPr id="4" name="Plate"/>
          <p:cNvSpPr/>
          <p:nvPr/>
        </p:nvSpPr>
        <p:spPr>
          <a:xfrm>
            <a:off x="822960" y="822960"/>
            <a:ext cx="5852160" cy="868680"/>
          </a:xfrm>
          <a:prstGeom prst="rect">
            <a:avLst/>
          </a:prstGeom>
          <a:solidFill>
            <a:srgbClr val="FFFFFF"/>
          </a:solidFill>
          <a:ln w="12700">
            <a:solidFill>
              <a:srgbClr val="FFFFFF"/>
            </a:solidFill>
            <a:prstDash val="solid"/>
          </a:ln>
        </p:spPr>
      </p:sp>
      <p:sp>
        <p:nvSpPr>
          <p:cNvPr id="5" name="Text 2"/>
          <p:cNvSpPr txBox="1"/>
          <p:nvPr/>
        </p:nvSpPr>
        <p:spPr>
          <a:xfrm>
            <a:off x="960120" y="822960"/>
            <a:ext cx="5577840" cy="868680"/>
          </a:xfrm>
          <a:prstGeom prst="rect">
            <a:avLst/>
          </a:prstGeom>
          <a:noFill/>
          <a:ln/>
        </p:spPr>
        <p:txBody>
          <a:bodyPr wrap="square" lIns="0" tIns="0" rIns="0" bIns="0" rtlCol="0" anchor="ctr">
            <a:normAutofit/>
          </a:bodyPr>
          <a:lstStyle/>
          <a:p>
            <a:pPr indent="0" marL="0">
              <a:buNone/>
            </a:pPr>
            <a:r>
              <a:rPr lang="en-US" sz="4000" dirty="0">
                <a:solidFill>
                  <a:srgbClr val="000000"/>
                </a:solidFill>
                <a:latin typeface="Arial Black" pitchFamily="34" charset="0"/>
                <a:ea typeface="Arial Black" pitchFamily="34" charset="-122"/>
                <a:cs typeface="Arial Black" pitchFamily="34" charset="-120"/>
              </a:rPr>
              <a:t>LINKEDIN</a:t>
            </a:r>
            <a:endParaRPr lang="en-US" sz="4000" dirty="0"/>
          </a:p>
        </p:txBody>
      </p:sp>
      <p:sp>
        <p:nvSpPr>
          <p:cNvPr id="6" name="Plate"/>
          <p:cNvSpPr/>
          <p:nvPr/>
        </p:nvSpPr>
        <p:spPr>
          <a:xfrm>
            <a:off x="822960" y="1737360"/>
            <a:ext cx="5852160" cy="868680"/>
          </a:xfrm>
          <a:prstGeom prst="rect">
            <a:avLst/>
          </a:prstGeom>
          <a:solidFill>
            <a:srgbClr val="0A66C2"/>
          </a:solidFill>
          <a:ln w="12700">
            <a:solidFill>
              <a:srgbClr val="0A66C2"/>
            </a:solidFill>
            <a:prstDash val="solid"/>
          </a:ln>
        </p:spPr>
      </p:sp>
      <p:sp>
        <p:nvSpPr>
          <p:cNvPr id="7" name="Text 4"/>
          <p:cNvSpPr txBox="1"/>
          <p:nvPr/>
        </p:nvSpPr>
        <p:spPr>
          <a:xfrm>
            <a:off x="960120" y="1737360"/>
            <a:ext cx="5577840" cy="86868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Arial Black" pitchFamily="34" charset="0"/>
                <a:ea typeface="Arial Black" pitchFamily="34" charset="-122"/>
                <a:cs typeface="Arial Black" pitchFamily="34" charset="-120"/>
              </a:rPr>
              <a:t>THE STORY</a:t>
            </a:r>
            <a:endParaRPr lang="en-US" sz="4000" dirty="0"/>
          </a:p>
        </p:txBody>
      </p:sp>
      <p:sp>
        <p:nvSpPr>
          <p:cNvPr id="8" name="Text 5"/>
          <p:cNvSpPr txBox="1"/>
          <p:nvPr/>
        </p:nvSpPr>
        <p:spPr>
          <a:xfrm>
            <a:off x="822960" y="2834640"/>
            <a:ext cx="5852160" cy="2240280"/>
          </a:xfrm>
          <a:prstGeom prst="rect">
            <a:avLst/>
          </a:prstGeom>
          <a:noFill/>
          <a:ln/>
        </p:spPr>
        <p:txBody>
          <a:bodyPr wrap="square" lIns="0" tIns="0" rIns="0" bIns="0" rtlCol="0" anchor="t"/>
          <a:lstStyle/>
          <a:p>
            <a:pPr indent="0" marL="0">
              <a:spcAft>
                <a:spcPts val="1000"/>
              </a:spcAft>
              <a:buNone/>
            </a:pPr>
            <a:r>
              <a:rPr lang="en-US" sz="1800" dirty="0">
                <a:solidFill>
                  <a:srgbClr val="FFFFFF"/>
                </a:solidFill>
                <a:latin typeface="Arial" pitchFamily="34" charset="0"/>
                <a:ea typeface="Arial" pitchFamily="34" charset="-122"/>
                <a:cs typeface="Arial" pitchFamily="34" charset="-120"/>
              </a:rPr>
              <a:t>The story of the world’s biggest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professional network</a:t>
            </a:r>
            <a:pPr indent="0" marL="0">
              <a:spcAft>
                <a:spcPts val="1000"/>
              </a:spcAft>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9" name="Text 6"/>
          <p:cNvSpPr txBox="1"/>
          <p:nvPr/>
        </p:nvSpPr>
        <p:spPr>
          <a:xfrm>
            <a:off x="822960" y="5166360"/>
            <a:ext cx="5852160" cy="914400"/>
          </a:xfrm>
          <a:prstGeom prst="rect">
            <a:avLst/>
          </a:prstGeom>
          <a:noFill/>
          <a:ln/>
        </p:spPr>
        <p:txBody>
          <a:bodyPr wrap="square" lIns="0" tIns="0" rIns="0" bIns="0" rtlCol="0" anchor="ctr"/>
          <a:lstStyle/>
          <a:p>
            <a:pPr indent="0" marL="0">
              <a:buNone/>
            </a:pPr>
            <a:r>
              <a:rPr lang="en-US" sz="4400" dirty="0">
                <a:solidFill>
                  <a:srgbClr val="FFFFFF"/>
                </a:solidFill>
                <a:latin typeface="Arial Black" pitchFamily="34" charset="0"/>
                <a:ea typeface="Arial Black" pitchFamily="34" charset="-122"/>
                <a:cs typeface="Arial Black" pitchFamily="34" charset="-120"/>
              </a:rPr>
              <a:t>2002–TODAY</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FFFFFF"/>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594360" y="594360"/>
            <a:ext cx="4846320" cy="5669280"/>
          </a:xfrm>
          <a:prstGeom prst="rect">
            <a:avLst/>
          </a:prstGeom>
        </p:spPr>
      </p:pic>
      <p:sp>
        <p:nvSpPr>
          <p:cNvPr id="4" name="Plate"/>
          <p:cNvSpPr/>
          <p:nvPr/>
        </p:nvSpPr>
        <p:spPr>
          <a:xfrm>
            <a:off x="5715000" y="822960"/>
            <a:ext cx="5852160" cy="868680"/>
          </a:xfrm>
          <a:prstGeom prst="rect">
            <a:avLst/>
          </a:prstGeom>
          <a:solidFill>
            <a:srgbClr val="000000"/>
          </a:solidFill>
          <a:ln w="12700">
            <a:solidFill>
              <a:srgbClr val="000000"/>
            </a:solidFill>
            <a:prstDash val="solid"/>
          </a:ln>
        </p:spPr>
      </p:sp>
      <p:sp>
        <p:nvSpPr>
          <p:cNvPr id="5" name="Text 2"/>
          <p:cNvSpPr txBox="1"/>
          <p:nvPr/>
        </p:nvSpPr>
        <p:spPr>
          <a:xfrm>
            <a:off x="5852160" y="822960"/>
            <a:ext cx="5577840" cy="86868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Arial Black" pitchFamily="34" charset="0"/>
                <a:ea typeface="Arial Black" pitchFamily="34" charset="-122"/>
                <a:cs typeface="Arial Black" pitchFamily="34" charset="-120"/>
              </a:rPr>
              <a:t>INTRODUCTION</a:t>
            </a:r>
            <a:endParaRPr lang="en-US" sz="4000" dirty="0"/>
          </a:p>
        </p:txBody>
      </p:sp>
      <p:sp>
        <p:nvSpPr>
          <p:cNvPr id="6" name="Text 3"/>
          <p:cNvSpPr txBox="1"/>
          <p:nvPr/>
        </p:nvSpPr>
        <p:spPr>
          <a:xfrm>
            <a:off x="5715000" y="1920240"/>
            <a:ext cx="5852160" cy="3154680"/>
          </a:xfrm>
          <a:prstGeom prst="rect">
            <a:avLst/>
          </a:prstGeom>
          <a:noFill/>
          <a:ln/>
        </p:spPr>
        <p:txBody>
          <a:bodyPr wrap="square" lIns="0" tIns="0" rIns="0" bIns="0" rtlCol="0" anchor="t"/>
          <a:lstStyle/>
          <a:p>
            <a:pPr indent="0" marL="0">
              <a:spcAft>
                <a:spcPts val="1000"/>
              </a:spcAft>
              <a:buNone/>
            </a:pPr>
            <a:r>
              <a:rPr lang="en-US" sz="1800" dirty="0">
                <a:solidFill>
                  <a:srgbClr val="000000"/>
                </a:solidFill>
                <a:latin typeface="Arial" pitchFamily="34" charset="0"/>
                <a:ea typeface="Arial" pitchFamily="34" charset="-122"/>
                <a:cs typeface="Arial" pitchFamily="34" charset="-120"/>
              </a:rPr>
              <a:t>LinkedIn is a social network for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work and careers</a:t>
            </a:r>
            <a:pPr indent="0" marL="0">
              <a:spcAft>
                <a:spcPts val="1000"/>
              </a:spcAft>
              <a:buNone/>
            </a:pPr>
            <a:r>
              <a:rPr lang="en-US" sz="1800" dirty="0">
                <a:solidFill>
                  <a:srgbClr val="000000"/>
                </a:solidFill>
                <a:latin typeface="Arial" pitchFamily="34" charset="0"/>
                <a:ea typeface="Arial" pitchFamily="34" charset="-122"/>
                <a:cs typeface="Arial" pitchFamily="34" charset="-120"/>
              </a:rPr>
              <a:t>.</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People make a profile, connect with colleagues, find jobs and learn new skills.</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Companies use it to find and hire people.</a:t>
            </a:r>
            <a:endParaRPr lang="en-US" sz="1800" dirty="0"/>
          </a:p>
        </p:txBody>
      </p:sp>
      <p:sp>
        <p:nvSpPr>
          <p:cNvPr id="7" name="Text 4"/>
          <p:cNvSpPr txBox="1"/>
          <p:nvPr/>
        </p:nvSpPr>
        <p:spPr>
          <a:xfrm>
            <a:off x="5715000" y="5166360"/>
            <a:ext cx="5852160" cy="914400"/>
          </a:xfrm>
          <a:prstGeom prst="rect">
            <a:avLst/>
          </a:prstGeom>
          <a:noFill/>
          <a:ln/>
        </p:spPr>
        <p:txBody>
          <a:bodyPr wrap="square" lIns="0" tIns="0" rIns="0" bIns="0" rtlCol="0" anchor="ctr"/>
          <a:lstStyle/>
          <a:p>
            <a:pPr indent="0" marL="0">
              <a:buNone/>
            </a:pPr>
            <a:r>
              <a:rPr lang="en-US" sz="4400" b="1" dirty="0">
                <a:solidFill>
                  <a:srgbClr val="FFFFFF"/>
                </a:solidFill>
                <a:highlight>
                  <a:srgbClr val="0A66C2"/>
                </a:highlight>
                <a:latin typeface="Arial Black" pitchFamily="34" charset="0"/>
                <a:ea typeface="Arial Black" pitchFamily="34" charset="-122"/>
                <a:cs typeface="Arial Black" pitchFamily="34" charset="-120"/>
              </a:rPr>
              <a:t>1B+ MEMBERS</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000000"/>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6748272" y="594360"/>
            <a:ext cx="4846320" cy="5669280"/>
          </a:xfrm>
          <a:prstGeom prst="rect">
            <a:avLst/>
          </a:prstGeom>
        </p:spPr>
      </p:pic>
      <p:sp>
        <p:nvSpPr>
          <p:cNvPr id="4" name="Text 1"/>
          <p:cNvSpPr txBox="1"/>
          <p:nvPr/>
        </p:nvSpPr>
        <p:spPr>
          <a:xfrm>
            <a:off x="822960" y="731520"/>
            <a:ext cx="5852160" cy="36576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FOUNDING</a:t>
            </a:r>
            <a:endParaRPr lang="en-US" sz="1600" dirty="0"/>
          </a:p>
        </p:txBody>
      </p:sp>
      <p:sp>
        <p:nvSpPr>
          <p:cNvPr id="5" name="Plate"/>
          <p:cNvSpPr/>
          <p:nvPr/>
        </p:nvSpPr>
        <p:spPr>
          <a:xfrm>
            <a:off x="822960" y="1143000"/>
            <a:ext cx="5852160" cy="868680"/>
          </a:xfrm>
          <a:prstGeom prst="rect">
            <a:avLst/>
          </a:prstGeom>
          <a:solidFill>
            <a:srgbClr val="FFFFFF"/>
          </a:solidFill>
          <a:ln w="12700">
            <a:solidFill>
              <a:srgbClr val="FFFFFF"/>
            </a:solidFill>
            <a:prstDash val="solid"/>
          </a:ln>
        </p:spPr>
      </p:sp>
      <p:sp>
        <p:nvSpPr>
          <p:cNvPr id="6" name="Text 3"/>
          <p:cNvSpPr txBox="1"/>
          <p:nvPr/>
        </p:nvSpPr>
        <p:spPr>
          <a:xfrm>
            <a:off x="960120" y="1143000"/>
            <a:ext cx="5577840" cy="868680"/>
          </a:xfrm>
          <a:prstGeom prst="rect">
            <a:avLst/>
          </a:prstGeom>
          <a:noFill/>
          <a:ln/>
        </p:spPr>
        <p:txBody>
          <a:bodyPr wrap="square" lIns="0" tIns="0" rIns="0" bIns="0" rtlCol="0" anchor="ctr">
            <a:normAutofit/>
          </a:bodyPr>
          <a:lstStyle/>
          <a:p>
            <a:pPr indent="0" marL="0">
              <a:buNone/>
            </a:pPr>
            <a:r>
              <a:rPr lang="en-US" sz="4000" dirty="0">
                <a:solidFill>
                  <a:srgbClr val="000000"/>
                </a:solidFill>
                <a:latin typeface="Arial Black" pitchFamily="34" charset="0"/>
                <a:ea typeface="Arial Black" pitchFamily="34" charset="-122"/>
                <a:cs typeface="Arial Black" pitchFamily="34" charset="-120"/>
              </a:rPr>
              <a:t>EARLY YEARS</a:t>
            </a:r>
            <a:endParaRPr lang="en-US" sz="4000" dirty="0"/>
          </a:p>
        </p:txBody>
      </p:sp>
      <p:sp>
        <p:nvSpPr>
          <p:cNvPr id="7" name="Text 4"/>
          <p:cNvSpPr txBox="1"/>
          <p:nvPr/>
        </p:nvSpPr>
        <p:spPr>
          <a:xfrm>
            <a:off x="822960" y="2240280"/>
            <a:ext cx="5852160" cy="2834640"/>
          </a:xfrm>
          <a:prstGeom prst="rect">
            <a:avLst/>
          </a:prstGeom>
          <a:noFill/>
          <a:ln/>
        </p:spPr>
        <p:txBody>
          <a:bodyPr wrap="square" lIns="0" tIns="0" rIns="0" bIns="0" rtlCol="0" anchor="t"/>
          <a:lstStyle/>
          <a:p>
            <a:pPr indent="0" marL="0">
              <a:spcAft>
                <a:spcPts val="1000"/>
              </a:spcAft>
              <a:buNone/>
            </a:pPr>
            <a:r>
              <a:rPr lang="en-US" sz="1800" dirty="0">
                <a:solidFill>
                  <a:srgbClr val="FFFFFF"/>
                </a:solidFill>
                <a:latin typeface="Arial" pitchFamily="34" charset="0"/>
                <a:ea typeface="Arial" pitchFamily="34" charset="-122"/>
                <a:cs typeface="Arial" pitchFamily="34" charset="-120"/>
              </a:rPr>
              <a:t>LinkedIn was founded in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December 2002</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by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Reid Hoffman</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and a small team.</a:t>
            </a:r>
            <a:endParaRPr lang="en-US" sz="1800" dirty="0"/>
          </a:p>
          <a:p>
            <a:pPr indent="0" marL="0">
              <a:spcAft>
                <a:spcPts val="1000"/>
              </a:spcAft>
              <a:buNone/>
            </a:pPr>
            <a:r>
              <a:rPr lang="en-US" sz="1800" dirty="0">
                <a:solidFill>
                  <a:srgbClr val="FFFFFF"/>
                </a:solidFill>
                <a:latin typeface="Arial" pitchFamily="34" charset="0"/>
                <a:ea typeface="Arial" pitchFamily="34" charset="-122"/>
                <a:cs typeface="Arial" pitchFamily="34" charset="-120"/>
              </a:rPr>
              <a:t>They worked from his living room in California. The site went live in May 2003.</a:t>
            </a:r>
            <a:endParaRPr lang="en-US" sz="1800" dirty="0"/>
          </a:p>
        </p:txBody>
      </p:sp>
      <p:sp>
        <p:nvSpPr>
          <p:cNvPr id="8" name="Text 5"/>
          <p:cNvSpPr txBox="1"/>
          <p:nvPr/>
        </p:nvSpPr>
        <p:spPr>
          <a:xfrm>
            <a:off x="822960" y="5166360"/>
            <a:ext cx="5852160" cy="914400"/>
          </a:xfrm>
          <a:prstGeom prst="rect">
            <a:avLst/>
          </a:prstGeom>
          <a:noFill/>
          <a:ln/>
        </p:spPr>
        <p:txBody>
          <a:bodyPr wrap="square" lIns="0" tIns="0" rIns="0" bIns="0" rtlCol="0" anchor="ctr"/>
          <a:lstStyle/>
          <a:p>
            <a:pPr indent="0" marL="0">
              <a:buNone/>
            </a:pPr>
            <a:r>
              <a:rPr lang="en-US" sz="4400" b="1" dirty="0">
                <a:solidFill>
                  <a:srgbClr val="FFFFFF"/>
                </a:solidFill>
                <a:highlight>
                  <a:srgbClr val="0A66C2"/>
                </a:highlight>
                <a:latin typeface="Arial Black" pitchFamily="34" charset="0"/>
                <a:ea typeface="Arial Black" pitchFamily="34" charset="-122"/>
                <a:cs typeface="Arial Black" pitchFamily="34" charset="-120"/>
              </a:rPr>
              <a:t>05.05.2003</a:t>
            </a: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FFFFFF"/>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594360" y="594360"/>
            <a:ext cx="4846320" cy="5669280"/>
          </a:xfrm>
          <a:prstGeom prst="rect">
            <a:avLst/>
          </a:prstGeom>
        </p:spPr>
      </p:pic>
      <p:sp>
        <p:nvSpPr>
          <p:cNvPr id="4" name="Text 1"/>
          <p:cNvSpPr txBox="1"/>
          <p:nvPr/>
        </p:nvSpPr>
        <p:spPr>
          <a:xfrm>
            <a:off x="5715000" y="731520"/>
            <a:ext cx="5852160" cy="365760"/>
          </a:xfrm>
          <a:prstGeom prst="rect">
            <a:avLst/>
          </a:prstGeom>
          <a:noFill/>
          <a:ln/>
        </p:spPr>
        <p:txBody>
          <a:bodyPr wrap="square" lIns="0" tIns="0" rIns="0" bIns="0" rtlCol="0" anchor="ctr"/>
          <a:lstStyle/>
          <a:p>
            <a:pPr indent="0" marL="0">
              <a:buNone/>
            </a:pPr>
            <a:r>
              <a:rPr lang="en-US" sz="1600" dirty="0">
                <a:solidFill>
                  <a:srgbClr val="000000"/>
                </a:solidFill>
                <a:latin typeface="Arial Black" pitchFamily="34" charset="0"/>
                <a:ea typeface="Arial Black" pitchFamily="34" charset="-122"/>
                <a:cs typeface="Arial Black" pitchFamily="34" charset="-120"/>
              </a:rPr>
              <a:t>GROWTH</a:t>
            </a:r>
            <a:endParaRPr lang="en-US" sz="1600" dirty="0"/>
          </a:p>
        </p:txBody>
      </p:sp>
      <p:sp>
        <p:nvSpPr>
          <p:cNvPr id="5" name="Plate"/>
          <p:cNvSpPr/>
          <p:nvPr/>
        </p:nvSpPr>
        <p:spPr>
          <a:xfrm>
            <a:off x="5715000" y="1143000"/>
            <a:ext cx="5852160" cy="868680"/>
          </a:xfrm>
          <a:prstGeom prst="rect">
            <a:avLst/>
          </a:prstGeom>
          <a:solidFill>
            <a:srgbClr val="000000"/>
          </a:solidFill>
          <a:ln w="12700">
            <a:solidFill>
              <a:srgbClr val="000000"/>
            </a:solidFill>
            <a:prstDash val="solid"/>
          </a:ln>
        </p:spPr>
      </p:sp>
      <p:sp>
        <p:nvSpPr>
          <p:cNvPr id="6" name="Text 3"/>
          <p:cNvSpPr txBox="1"/>
          <p:nvPr/>
        </p:nvSpPr>
        <p:spPr>
          <a:xfrm>
            <a:off x="5852160" y="1143000"/>
            <a:ext cx="5577840" cy="86868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Arial Black" pitchFamily="34" charset="0"/>
                <a:ea typeface="Arial Black" pitchFamily="34" charset="-122"/>
                <a:cs typeface="Arial Black" pitchFamily="34" charset="-120"/>
              </a:rPr>
              <a:t>GOING PUBLIC</a:t>
            </a:r>
            <a:endParaRPr lang="en-US" sz="4000" dirty="0"/>
          </a:p>
        </p:txBody>
      </p:sp>
      <p:sp>
        <p:nvSpPr>
          <p:cNvPr id="7" name="Text 4"/>
          <p:cNvSpPr txBox="1"/>
          <p:nvPr/>
        </p:nvSpPr>
        <p:spPr>
          <a:xfrm>
            <a:off x="5715000" y="2240280"/>
            <a:ext cx="5852160" cy="2834640"/>
          </a:xfrm>
          <a:prstGeom prst="rect">
            <a:avLst/>
          </a:prstGeom>
          <a:noFill/>
          <a:ln/>
        </p:spPr>
        <p:txBody>
          <a:bodyPr wrap="square" lIns="0" tIns="0" rIns="0" bIns="0" rtlCol="0" anchor="t"/>
          <a:lstStyle/>
          <a:p>
            <a:pPr indent="0" marL="0">
              <a:spcAft>
                <a:spcPts val="1000"/>
              </a:spcAft>
              <a:buNone/>
            </a:pPr>
            <a:r>
              <a:rPr lang="en-US" sz="1800" dirty="0">
                <a:solidFill>
                  <a:srgbClr val="000000"/>
                </a:solidFill>
                <a:latin typeface="Arial" pitchFamily="34" charset="0"/>
                <a:ea typeface="Arial" pitchFamily="34" charset="-122"/>
                <a:cs typeface="Arial" pitchFamily="34" charset="-120"/>
              </a:rPr>
              <a:t>LinkedIn reached its first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million members</a:t>
            </a:r>
            <a:pPr indent="0" marL="0">
              <a:spcAft>
                <a:spcPts val="1000"/>
              </a:spcAft>
              <a:buNone/>
            </a:pPr>
            <a:r>
              <a:rPr lang="en-US" sz="1800" dirty="0">
                <a:solidFill>
                  <a:srgbClr val="000000"/>
                </a:solidFill>
                <a:latin typeface="Arial" pitchFamily="34" charset="0"/>
                <a:ea typeface="Arial" pitchFamily="34" charset="-122"/>
                <a:cs typeface="Arial" pitchFamily="34" charset="-120"/>
              </a:rPr>
              <a:t> in 2004.</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In May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2011</a:t>
            </a:r>
            <a:pPr indent="0" marL="0">
              <a:spcAft>
                <a:spcPts val="1000"/>
              </a:spcAft>
              <a:buNone/>
            </a:pPr>
            <a:r>
              <a:rPr lang="en-US" sz="1800" dirty="0">
                <a:solidFill>
                  <a:srgbClr val="000000"/>
                </a:solidFill>
                <a:latin typeface="Arial" pitchFamily="34" charset="0"/>
                <a:ea typeface="Arial" pitchFamily="34" charset="-122"/>
                <a:cs typeface="Arial" pitchFamily="34" charset="-120"/>
              </a:rPr>
              <a:t>, the company went public on the New York Stock Exchange.</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The share price more than doubled on the first day.</a:t>
            </a:r>
            <a:endParaRPr lang="en-US" sz="1800" dirty="0"/>
          </a:p>
        </p:txBody>
      </p:sp>
      <p:sp>
        <p:nvSpPr>
          <p:cNvPr id="8" name="Text 5"/>
          <p:cNvSpPr txBox="1"/>
          <p:nvPr/>
        </p:nvSpPr>
        <p:spPr>
          <a:xfrm>
            <a:off x="5715000" y="5166360"/>
            <a:ext cx="5852160" cy="914400"/>
          </a:xfrm>
          <a:prstGeom prst="rect">
            <a:avLst/>
          </a:prstGeom>
          <a:noFill/>
          <a:ln/>
        </p:spPr>
        <p:txBody>
          <a:bodyPr wrap="square" lIns="0" tIns="0" rIns="0" bIns="0" rtlCol="0" anchor="ctr"/>
          <a:lstStyle/>
          <a:p>
            <a:pPr indent="0" marL="0">
              <a:buNone/>
            </a:pPr>
            <a:r>
              <a:rPr lang="en-US" sz="4400" b="1" dirty="0">
                <a:solidFill>
                  <a:srgbClr val="FFFFFF"/>
                </a:solidFill>
                <a:highlight>
                  <a:srgbClr val="0A66C2"/>
                </a:highlight>
                <a:latin typeface="Arial Black" pitchFamily="34" charset="0"/>
                <a:ea typeface="Arial Black" pitchFamily="34" charset="-122"/>
                <a:cs typeface="Arial Black" pitchFamily="34" charset="-120"/>
              </a:rPr>
              <a:t>2011 · IPO</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000000"/>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6748272" y="594360"/>
            <a:ext cx="4846320" cy="5669280"/>
          </a:xfrm>
          <a:prstGeom prst="rect">
            <a:avLst/>
          </a:prstGeom>
        </p:spPr>
      </p:pic>
      <p:sp>
        <p:nvSpPr>
          <p:cNvPr id="4" name="Text 1"/>
          <p:cNvSpPr txBox="1"/>
          <p:nvPr/>
        </p:nvSpPr>
        <p:spPr>
          <a:xfrm>
            <a:off x="822960" y="731520"/>
            <a:ext cx="5852160" cy="36576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PRODUCTS</a:t>
            </a:r>
            <a:endParaRPr lang="en-US" sz="1600" dirty="0"/>
          </a:p>
        </p:txBody>
      </p:sp>
      <p:sp>
        <p:nvSpPr>
          <p:cNvPr id="5" name="Plate"/>
          <p:cNvSpPr/>
          <p:nvPr/>
        </p:nvSpPr>
        <p:spPr>
          <a:xfrm>
            <a:off x="822960" y="1143000"/>
            <a:ext cx="5852160" cy="868680"/>
          </a:xfrm>
          <a:prstGeom prst="rect">
            <a:avLst/>
          </a:prstGeom>
          <a:solidFill>
            <a:srgbClr val="FFFFFF"/>
          </a:solidFill>
          <a:ln w="12700">
            <a:solidFill>
              <a:srgbClr val="FFFFFF"/>
            </a:solidFill>
            <a:prstDash val="solid"/>
          </a:ln>
        </p:spPr>
      </p:sp>
      <p:sp>
        <p:nvSpPr>
          <p:cNvPr id="6" name="Text 3"/>
          <p:cNvSpPr txBox="1"/>
          <p:nvPr/>
        </p:nvSpPr>
        <p:spPr>
          <a:xfrm>
            <a:off x="960120" y="1143000"/>
            <a:ext cx="5577840" cy="868680"/>
          </a:xfrm>
          <a:prstGeom prst="rect">
            <a:avLst/>
          </a:prstGeom>
          <a:noFill/>
          <a:ln/>
        </p:spPr>
        <p:txBody>
          <a:bodyPr wrap="square" lIns="0" tIns="0" rIns="0" bIns="0" rtlCol="0" anchor="ctr">
            <a:normAutofit/>
          </a:bodyPr>
          <a:lstStyle/>
          <a:p>
            <a:pPr indent="0" marL="0">
              <a:buNone/>
            </a:pPr>
            <a:r>
              <a:rPr lang="en-US" sz="3600" dirty="0">
                <a:solidFill>
                  <a:srgbClr val="000000"/>
                </a:solidFill>
                <a:latin typeface="Arial Black" pitchFamily="34" charset="0"/>
                <a:ea typeface="Arial Black" pitchFamily="34" charset="-122"/>
                <a:cs typeface="Arial Black" pitchFamily="34" charset="-120"/>
              </a:rPr>
              <a:t>WHAT YOU CAN DO</a:t>
            </a:r>
            <a:endParaRPr lang="en-US" sz="3600" dirty="0"/>
          </a:p>
        </p:txBody>
      </p:sp>
      <p:sp>
        <p:nvSpPr>
          <p:cNvPr id="7" name="Text 4"/>
          <p:cNvSpPr txBox="1"/>
          <p:nvPr/>
        </p:nvSpPr>
        <p:spPr>
          <a:xfrm>
            <a:off x="822960" y="2240280"/>
            <a:ext cx="5852160" cy="2834640"/>
          </a:xfrm>
          <a:prstGeom prst="rect">
            <a:avLst/>
          </a:prstGeom>
          <a:noFill/>
          <a:ln/>
        </p:spPr>
        <p:txBody>
          <a:bodyPr wrap="square" lIns="0" tIns="0" rIns="0" bIns="0" rtlCol="0" anchor="t"/>
          <a:lstStyle/>
          <a:p>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Jobs</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 search and apply for work.</a:t>
            </a:r>
            <a:endParaRPr lang="en-US" sz="1800" dirty="0"/>
          </a:p>
          <a:p>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Learning</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 online courses. LinkedIn bought Lynda.com in 2015.</a:t>
            </a:r>
            <a:endParaRPr lang="en-US" sz="1800" dirty="0"/>
          </a:p>
          <a:p>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Sales Navigator</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 a tool to find business clients.</a:t>
            </a:r>
            <a:endParaRPr lang="en-US" sz="1800" dirty="0"/>
          </a:p>
          <a:p>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Ads &amp; Company Pages</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 how brands talk to people.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FFFFFF"/>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594360" y="594360"/>
            <a:ext cx="4846320" cy="5669280"/>
          </a:xfrm>
          <a:prstGeom prst="rect">
            <a:avLst/>
          </a:prstGeom>
        </p:spPr>
      </p:pic>
      <p:sp>
        <p:nvSpPr>
          <p:cNvPr id="4" name="Text 1"/>
          <p:cNvSpPr txBox="1"/>
          <p:nvPr/>
        </p:nvSpPr>
        <p:spPr>
          <a:xfrm>
            <a:off x="5715000" y="731520"/>
            <a:ext cx="5852160" cy="365760"/>
          </a:xfrm>
          <a:prstGeom prst="rect">
            <a:avLst/>
          </a:prstGeom>
          <a:noFill/>
          <a:ln/>
        </p:spPr>
        <p:txBody>
          <a:bodyPr wrap="square" lIns="0" tIns="0" rIns="0" bIns="0" rtlCol="0" anchor="ctr"/>
          <a:lstStyle/>
          <a:p>
            <a:pPr indent="0" marL="0">
              <a:buNone/>
            </a:pPr>
            <a:r>
              <a:rPr lang="en-US" sz="1600" dirty="0">
                <a:solidFill>
                  <a:srgbClr val="000000"/>
                </a:solidFill>
                <a:latin typeface="Arial Black" pitchFamily="34" charset="0"/>
                <a:ea typeface="Arial Black" pitchFamily="34" charset="-122"/>
                <a:cs typeface="Arial Black" pitchFamily="34" charset="-120"/>
              </a:rPr>
              <a:t>2016</a:t>
            </a:r>
            <a:endParaRPr lang="en-US" sz="1600" dirty="0"/>
          </a:p>
        </p:txBody>
      </p:sp>
      <p:sp>
        <p:nvSpPr>
          <p:cNvPr id="5" name="Plate"/>
          <p:cNvSpPr/>
          <p:nvPr/>
        </p:nvSpPr>
        <p:spPr>
          <a:xfrm>
            <a:off x="5715000" y="1143000"/>
            <a:ext cx="5852160" cy="868680"/>
          </a:xfrm>
          <a:prstGeom prst="rect">
            <a:avLst/>
          </a:prstGeom>
          <a:solidFill>
            <a:srgbClr val="000000"/>
          </a:solidFill>
          <a:ln w="12700">
            <a:solidFill>
              <a:srgbClr val="000000"/>
            </a:solidFill>
            <a:prstDash val="solid"/>
          </a:ln>
        </p:spPr>
      </p:sp>
      <p:sp>
        <p:nvSpPr>
          <p:cNvPr id="6" name="Text 3"/>
          <p:cNvSpPr txBox="1"/>
          <p:nvPr/>
        </p:nvSpPr>
        <p:spPr>
          <a:xfrm>
            <a:off x="5852160" y="1143000"/>
            <a:ext cx="5577840" cy="86868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Arial Black" pitchFamily="34" charset="0"/>
                <a:ea typeface="Arial Black" pitchFamily="34" charset="-122"/>
                <a:cs typeface="Arial Black" pitchFamily="34" charset="-120"/>
              </a:rPr>
              <a:t>MICROSOFT</a:t>
            </a:r>
            <a:endParaRPr lang="en-US" sz="4000" dirty="0"/>
          </a:p>
        </p:txBody>
      </p:sp>
      <p:sp>
        <p:nvSpPr>
          <p:cNvPr id="7" name="Text 4"/>
          <p:cNvSpPr txBox="1"/>
          <p:nvPr/>
        </p:nvSpPr>
        <p:spPr>
          <a:xfrm>
            <a:off x="5715000" y="2240280"/>
            <a:ext cx="5852160" cy="2834640"/>
          </a:xfrm>
          <a:prstGeom prst="rect">
            <a:avLst/>
          </a:prstGeom>
          <a:noFill/>
          <a:ln/>
        </p:spPr>
        <p:txBody>
          <a:bodyPr wrap="square" lIns="0" tIns="0" rIns="0" bIns="0" rtlCol="0" anchor="t"/>
          <a:lstStyle/>
          <a:p>
            <a:pPr indent="0" marL="0">
              <a:spcAft>
                <a:spcPts val="1000"/>
              </a:spcAft>
              <a:buNone/>
            </a:pPr>
            <a:r>
              <a:rPr lang="en-US" sz="1800" dirty="0">
                <a:solidFill>
                  <a:srgbClr val="000000"/>
                </a:solidFill>
                <a:latin typeface="Arial" pitchFamily="34" charset="0"/>
                <a:ea typeface="Arial" pitchFamily="34" charset="-122"/>
                <a:cs typeface="Arial" pitchFamily="34" charset="-120"/>
              </a:rPr>
              <a:t>In June 2016,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Microsoft</a:t>
            </a:r>
            <a:pPr indent="0" marL="0">
              <a:spcAft>
                <a:spcPts val="1000"/>
              </a:spcAft>
              <a:buNone/>
            </a:pPr>
            <a:r>
              <a:rPr lang="en-US" sz="1800" dirty="0">
                <a:solidFill>
                  <a:srgbClr val="000000"/>
                </a:solidFill>
                <a:latin typeface="Arial" pitchFamily="34" charset="0"/>
                <a:ea typeface="Arial" pitchFamily="34" charset="-122"/>
                <a:cs typeface="Arial" pitchFamily="34" charset="-120"/>
              </a:rPr>
              <a:t> announced it would buy LinkedIn.</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The deal cost about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26.2 billion dollars</a:t>
            </a:r>
            <a:pPr indent="0" marL="0">
              <a:spcAft>
                <a:spcPts val="1000"/>
              </a:spcAft>
              <a:buNone/>
            </a:pPr>
            <a:r>
              <a:rPr lang="en-US" sz="1800" dirty="0">
                <a:solidFill>
                  <a:srgbClr val="000000"/>
                </a:solidFill>
                <a:latin typeface="Arial" pitchFamily="34" charset="0"/>
                <a:ea typeface="Arial" pitchFamily="34" charset="-122"/>
                <a:cs typeface="Arial" pitchFamily="34" charset="-120"/>
              </a:rPr>
              <a:t>. It closed in December 2016.</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LinkedIn kept its own name and brand.</a:t>
            </a:r>
            <a:endParaRPr lang="en-US" sz="1800" dirty="0"/>
          </a:p>
        </p:txBody>
      </p:sp>
      <p:sp>
        <p:nvSpPr>
          <p:cNvPr id="8" name="Text 5"/>
          <p:cNvSpPr txBox="1"/>
          <p:nvPr/>
        </p:nvSpPr>
        <p:spPr>
          <a:xfrm>
            <a:off x="5715000" y="5166360"/>
            <a:ext cx="5852160" cy="914400"/>
          </a:xfrm>
          <a:prstGeom prst="rect">
            <a:avLst/>
          </a:prstGeom>
          <a:noFill/>
          <a:ln/>
        </p:spPr>
        <p:txBody>
          <a:bodyPr wrap="square" lIns="0" tIns="0" rIns="0" bIns="0" rtlCol="0" anchor="ctr"/>
          <a:lstStyle/>
          <a:p>
            <a:pPr indent="0" marL="0">
              <a:buNone/>
            </a:pPr>
            <a:r>
              <a:rPr lang="en-US" sz="4400" b="1" dirty="0">
                <a:solidFill>
                  <a:srgbClr val="FFFFFF"/>
                </a:solidFill>
                <a:highlight>
                  <a:srgbClr val="0A66C2"/>
                </a:highlight>
                <a:latin typeface="Arial Black" pitchFamily="34" charset="0"/>
                <a:ea typeface="Arial Black" pitchFamily="34" charset="-122"/>
                <a:cs typeface="Arial Black" pitchFamily="34" charset="-120"/>
              </a:rPr>
              <a:t>$26.2B</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000000"/>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6748272" y="594360"/>
            <a:ext cx="4846320" cy="5669280"/>
          </a:xfrm>
          <a:prstGeom prst="rect">
            <a:avLst/>
          </a:prstGeom>
        </p:spPr>
      </p:pic>
      <p:sp>
        <p:nvSpPr>
          <p:cNvPr id="4" name="Text 1"/>
          <p:cNvSpPr txBox="1"/>
          <p:nvPr/>
        </p:nvSpPr>
        <p:spPr>
          <a:xfrm>
            <a:off x="822960" y="731520"/>
            <a:ext cx="5852160" cy="36576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TODAY</a:t>
            </a:r>
            <a:endParaRPr lang="en-US" sz="1600" dirty="0"/>
          </a:p>
        </p:txBody>
      </p:sp>
      <p:sp>
        <p:nvSpPr>
          <p:cNvPr id="5" name="Plate"/>
          <p:cNvSpPr/>
          <p:nvPr/>
        </p:nvSpPr>
        <p:spPr>
          <a:xfrm>
            <a:off x="822960" y="1143000"/>
            <a:ext cx="5852160" cy="868680"/>
          </a:xfrm>
          <a:prstGeom prst="rect">
            <a:avLst/>
          </a:prstGeom>
          <a:solidFill>
            <a:srgbClr val="FFFFFF"/>
          </a:solidFill>
          <a:ln w="12700">
            <a:solidFill>
              <a:srgbClr val="FFFFFF"/>
            </a:solidFill>
            <a:prstDash val="solid"/>
          </a:ln>
        </p:spPr>
      </p:sp>
      <p:sp>
        <p:nvSpPr>
          <p:cNvPr id="6" name="Text 3"/>
          <p:cNvSpPr txBox="1"/>
          <p:nvPr/>
        </p:nvSpPr>
        <p:spPr>
          <a:xfrm>
            <a:off x="960120" y="1143000"/>
            <a:ext cx="5577840" cy="868680"/>
          </a:xfrm>
          <a:prstGeom prst="rect">
            <a:avLst/>
          </a:prstGeom>
          <a:noFill/>
          <a:ln/>
        </p:spPr>
        <p:txBody>
          <a:bodyPr wrap="square" lIns="0" tIns="0" rIns="0" bIns="0" rtlCol="0" anchor="ctr">
            <a:normAutofit/>
          </a:bodyPr>
          <a:lstStyle/>
          <a:p>
            <a:pPr indent="0" marL="0">
              <a:buNone/>
            </a:pPr>
            <a:r>
              <a:rPr lang="en-US" sz="4000" dirty="0">
                <a:solidFill>
                  <a:srgbClr val="000000"/>
                </a:solidFill>
                <a:latin typeface="Arial Black" pitchFamily="34" charset="0"/>
                <a:ea typeface="Arial Black" pitchFamily="34" charset="-122"/>
                <a:cs typeface="Arial Black" pitchFamily="34" charset="-120"/>
              </a:rPr>
              <a:t>LINKEDIN NOW</a:t>
            </a:r>
            <a:endParaRPr lang="en-US" sz="4000" dirty="0"/>
          </a:p>
        </p:txBody>
      </p:sp>
      <p:sp>
        <p:nvSpPr>
          <p:cNvPr id="7" name="Text 4"/>
          <p:cNvSpPr txBox="1"/>
          <p:nvPr/>
        </p:nvSpPr>
        <p:spPr>
          <a:xfrm>
            <a:off x="822960" y="2240280"/>
            <a:ext cx="5852160" cy="2834640"/>
          </a:xfrm>
          <a:prstGeom prst="rect">
            <a:avLst/>
          </a:prstGeom>
          <a:noFill/>
          <a:ln/>
        </p:spPr>
        <p:txBody>
          <a:bodyPr wrap="square" lIns="0" tIns="0" rIns="0" bIns="0" rtlCol="0" anchor="t"/>
          <a:lstStyle/>
          <a:p>
            <a:pPr indent="0" marL="0">
              <a:spcAft>
                <a:spcPts val="1000"/>
              </a:spcAft>
              <a:buNone/>
            </a:pPr>
            <a:r>
              <a:rPr lang="en-US" sz="1800" dirty="0">
                <a:solidFill>
                  <a:srgbClr val="FFFFFF"/>
                </a:solidFill>
                <a:latin typeface="Arial" pitchFamily="34" charset="0"/>
                <a:ea typeface="Arial" pitchFamily="34" charset="-122"/>
                <a:cs typeface="Arial" pitchFamily="34" charset="-120"/>
              </a:rPr>
              <a:t>More than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1 billion members</a:t>
            </a:r>
            <a:pPr indent="0" marL="0">
              <a:spcAft>
                <a:spcPts val="1000"/>
              </a:spcAft>
              <a:buNone/>
            </a:pPr>
            <a:r>
              <a:rPr lang="en-US" sz="1800" dirty="0">
                <a:solidFill>
                  <a:srgbClr val="FFFFFF"/>
                </a:solidFill>
                <a:latin typeface="Arial" pitchFamily="34" charset="0"/>
                <a:ea typeface="Arial" pitchFamily="34" charset="-122"/>
                <a:cs typeface="Arial" pitchFamily="34" charset="-120"/>
              </a:rPr>
              <a:t> in over 200 countries and regions.</a:t>
            </a:r>
            <a:endParaRPr lang="en-US" sz="1800" dirty="0"/>
          </a:p>
          <a:p>
            <a:pPr indent="0" marL="0">
              <a:spcAft>
                <a:spcPts val="1000"/>
              </a:spcAft>
              <a:buNone/>
            </a:pPr>
            <a:r>
              <a:rPr lang="en-US" sz="1800" dirty="0">
                <a:solidFill>
                  <a:srgbClr val="FFFFFF"/>
                </a:solidFill>
                <a:latin typeface="Arial" pitchFamily="34" charset="0"/>
                <a:ea typeface="Arial" pitchFamily="34" charset="-122"/>
                <a:cs typeface="Arial" pitchFamily="34" charset="-120"/>
              </a:rPr>
              <a:t>Headquarters: Sunnyvale, California. CEO: Ryan Roslansky.</a:t>
            </a:r>
            <a:endParaRPr lang="en-US" sz="1800" dirty="0"/>
          </a:p>
          <a:p>
            <a:pPr indent="0" marL="0">
              <a:spcAft>
                <a:spcPts val="1000"/>
              </a:spcAft>
              <a:buNone/>
            </a:pPr>
            <a:r>
              <a:rPr lang="en-US" sz="1800" dirty="0">
                <a:solidFill>
                  <a:srgbClr val="FFFFFF"/>
                </a:solidFill>
                <a:latin typeface="Arial" pitchFamily="34" charset="0"/>
                <a:ea typeface="Arial" pitchFamily="34" charset="-122"/>
                <a:cs typeface="Arial" pitchFamily="34" charset="-120"/>
              </a:rPr>
              <a:t>It is the main place for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hiring and professional news</a:t>
            </a:r>
            <a:pPr indent="0" marL="0">
              <a:spcAft>
                <a:spcPts val="1000"/>
              </a:spcAft>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8" name="Text 5"/>
          <p:cNvSpPr txBox="1"/>
          <p:nvPr/>
        </p:nvSpPr>
        <p:spPr>
          <a:xfrm>
            <a:off x="822960" y="5166360"/>
            <a:ext cx="5852160" cy="914400"/>
          </a:xfrm>
          <a:prstGeom prst="rect">
            <a:avLst/>
          </a:prstGeom>
          <a:noFill/>
          <a:ln/>
        </p:spPr>
        <p:txBody>
          <a:bodyPr wrap="square" lIns="0" tIns="0" rIns="0" bIns="0" rtlCol="0" anchor="ctr"/>
          <a:lstStyle/>
          <a:p>
            <a:pPr indent="0" marL="0">
              <a:buNone/>
            </a:pPr>
            <a:r>
              <a:rPr lang="en-US" sz="4100" b="1" dirty="0">
                <a:solidFill>
                  <a:srgbClr val="FFFFFF"/>
                </a:solidFill>
                <a:highlight>
                  <a:srgbClr val="0A66C2"/>
                </a:highlight>
                <a:latin typeface="Arial Black" pitchFamily="34" charset="0"/>
                <a:ea typeface="Arial Black" pitchFamily="34" charset="-122"/>
                <a:cs typeface="Arial Black" pitchFamily="34" charset="-120"/>
              </a:rPr>
              <a:t>1,000,000,000</a:t>
            </a:r>
            <a:endParaRPr lang="en-US" sz="4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FFFFFF"/>
          </a:solidFill>
          <a:ln w="31750">
            <a:solidFill>
              <a:srgbClr val="000000"/>
            </a:solidFill>
            <a:prstDash val="solid"/>
          </a:ln>
        </p:spPr>
      </p:sp>
      <p:pic>
        <p:nvPicPr>
          <p:cNvPr id="3" name="Photo" descr="Black and white illustration">    </p:cNvPr>
          <p:cNvPicPr>
            <a:picLocks noChangeAspect="1"/>
          </p:cNvPicPr>
          <p:nvPr/>
        </p:nvPicPr>
        <p:blipFill>
          <a:blip r:embed="rId1"/>
          <a:stretch>
            <a:fillRect/>
          </a:stretch>
        </p:blipFill>
        <p:spPr>
          <a:xfrm>
            <a:off x="594360" y="594360"/>
            <a:ext cx="4846320" cy="5669280"/>
          </a:xfrm>
          <a:prstGeom prst="rect">
            <a:avLst/>
          </a:prstGeom>
        </p:spPr>
      </p:pic>
      <p:sp>
        <p:nvSpPr>
          <p:cNvPr id="4" name="Text 1"/>
          <p:cNvSpPr txBox="1"/>
          <p:nvPr/>
        </p:nvSpPr>
        <p:spPr>
          <a:xfrm>
            <a:off x="5715000" y="731520"/>
            <a:ext cx="5852160" cy="365760"/>
          </a:xfrm>
          <a:prstGeom prst="rect">
            <a:avLst/>
          </a:prstGeom>
          <a:noFill/>
          <a:ln/>
        </p:spPr>
        <p:txBody>
          <a:bodyPr wrap="square" lIns="0" tIns="0" rIns="0" bIns="0" rtlCol="0" anchor="ctr"/>
          <a:lstStyle/>
          <a:p>
            <a:pPr indent="0" marL="0">
              <a:buNone/>
            </a:pPr>
            <a:r>
              <a:rPr lang="en-US" sz="1600" dirty="0">
                <a:solidFill>
                  <a:srgbClr val="000000"/>
                </a:solidFill>
                <a:latin typeface="Arial Black" pitchFamily="34" charset="0"/>
                <a:ea typeface="Arial Black" pitchFamily="34" charset="-122"/>
                <a:cs typeface="Arial Black" pitchFamily="34" charset="-120"/>
              </a:rPr>
              <a:t>IMPACT</a:t>
            </a:r>
            <a:endParaRPr lang="en-US" sz="1600" dirty="0"/>
          </a:p>
        </p:txBody>
      </p:sp>
      <p:sp>
        <p:nvSpPr>
          <p:cNvPr id="5" name="Plate"/>
          <p:cNvSpPr/>
          <p:nvPr/>
        </p:nvSpPr>
        <p:spPr>
          <a:xfrm>
            <a:off x="5715000" y="1143000"/>
            <a:ext cx="5852160" cy="868680"/>
          </a:xfrm>
          <a:prstGeom prst="rect">
            <a:avLst/>
          </a:prstGeom>
          <a:solidFill>
            <a:srgbClr val="000000"/>
          </a:solidFill>
          <a:ln w="12700">
            <a:solidFill>
              <a:srgbClr val="000000"/>
            </a:solidFill>
            <a:prstDash val="solid"/>
          </a:ln>
        </p:spPr>
      </p:sp>
      <p:sp>
        <p:nvSpPr>
          <p:cNvPr id="6" name="Text 3"/>
          <p:cNvSpPr txBox="1"/>
          <p:nvPr/>
        </p:nvSpPr>
        <p:spPr>
          <a:xfrm>
            <a:off x="5852160" y="1143000"/>
            <a:ext cx="5577840" cy="868680"/>
          </a:xfrm>
          <a:prstGeom prst="rect">
            <a:avLst/>
          </a:prstGeom>
          <a:noFill/>
          <a:ln/>
        </p:spPr>
        <p:txBody>
          <a:bodyPr wrap="square" lIns="0" tIns="0" rIns="0" bIns="0" rtlCol="0" anchor="ctr">
            <a:normAutofit/>
          </a:bodyPr>
          <a:lstStyle/>
          <a:p>
            <a:pPr indent="0" marL="0">
              <a:buNone/>
            </a:pPr>
            <a:r>
              <a:rPr lang="en-US" sz="3800" dirty="0">
                <a:solidFill>
                  <a:srgbClr val="FFFFFF"/>
                </a:solidFill>
                <a:latin typeface="Arial Black" pitchFamily="34" charset="0"/>
                <a:ea typeface="Arial Black" pitchFamily="34" charset="-122"/>
                <a:cs typeface="Arial Black" pitchFamily="34" charset="-120"/>
              </a:rPr>
              <a:t>WHY IT MATTERS</a:t>
            </a:r>
            <a:endParaRPr lang="en-US" sz="3800" dirty="0"/>
          </a:p>
        </p:txBody>
      </p:sp>
      <p:sp>
        <p:nvSpPr>
          <p:cNvPr id="7" name="Text 4"/>
          <p:cNvSpPr txBox="1"/>
          <p:nvPr/>
        </p:nvSpPr>
        <p:spPr>
          <a:xfrm>
            <a:off x="5715000" y="2240280"/>
            <a:ext cx="5852160" cy="2834640"/>
          </a:xfrm>
          <a:prstGeom prst="rect">
            <a:avLst/>
          </a:prstGeom>
          <a:noFill/>
          <a:ln/>
        </p:spPr>
        <p:txBody>
          <a:bodyPr wrap="square" lIns="0" tIns="0" rIns="0" bIns="0" rtlCol="0" anchor="t"/>
          <a:lstStyle/>
          <a:p>
            <a:pPr indent="0" marL="0">
              <a:spcAft>
                <a:spcPts val="1000"/>
              </a:spcAft>
              <a:buNone/>
            </a:pPr>
            <a:r>
              <a:rPr lang="en-US" sz="1800" dirty="0">
                <a:solidFill>
                  <a:srgbClr val="000000"/>
                </a:solidFill>
                <a:latin typeface="Arial" pitchFamily="34" charset="0"/>
                <a:ea typeface="Arial" pitchFamily="34" charset="-122"/>
                <a:cs typeface="Arial" pitchFamily="34" charset="-120"/>
              </a:rPr>
              <a:t>It helps people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find jobs</a:t>
            </a:r>
            <a:pPr indent="0" marL="0">
              <a:spcAft>
                <a:spcPts val="1000"/>
              </a:spcAft>
              <a:buNone/>
            </a:pPr>
            <a:r>
              <a:rPr lang="en-US" sz="1800" dirty="0">
                <a:solidFill>
                  <a:srgbClr val="000000"/>
                </a:solidFill>
                <a:latin typeface="Arial" pitchFamily="34" charset="0"/>
                <a:ea typeface="Arial" pitchFamily="34" charset="-122"/>
                <a:cs typeface="Arial" pitchFamily="34" charset="-120"/>
              </a:rPr>
              <a:t> and companies find talent.</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It lets you build your </a:t>
            </a:r>
            <a:pPr indent="0" marL="0">
              <a:spcAft>
                <a:spcPts val="1000"/>
              </a:spcAft>
              <a:buNone/>
            </a:pPr>
            <a:r>
              <a:rPr lang="en-US" sz="1800" b="1" dirty="0">
                <a:solidFill>
                  <a:srgbClr val="FFFFFF"/>
                </a:solidFill>
                <a:highlight>
                  <a:srgbClr val="0A66C2"/>
                </a:highlight>
                <a:latin typeface="Arial" pitchFamily="34" charset="0"/>
                <a:ea typeface="Arial" pitchFamily="34" charset="-122"/>
                <a:cs typeface="Arial" pitchFamily="34" charset="-120"/>
              </a:rPr>
              <a:t>personal brand</a:t>
            </a:r>
            <a:pPr indent="0" marL="0">
              <a:spcAft>
                <a:spcPts val="1000"/>
              </a:spcAft>
              <a:buNone/>
            </a:pPr>
            <a:r>
              <a:rPr lang="en-US" sz="1800" dirty="0">
                <a:solidFill>
                  <a:srgbClr val="000000"/>
                </a:solidFill>
                <a:latin typeface="Arial" pitchFamily="34" charset="0"/>
                <a:ea typeface="Arial" pitchFamily="34" charset="-122"/>
                <a:cs typeface="Arial" pitchFamily="34" charset="-120"/>
              </a:rPr>
              <a:t> and grow your network.</a:t>
            </a:r>
            <a:endParaRPr lang="en-US" sz="1800" dirty="0"/>
          </a:p>
          <a:p>
            <a:pPr indent="0" marL="0">
              <a:spcAft>
                <a:spcPts val="1000"/>
              </a:spcAft>
              <a:buNone/>
            </a:pPr>
            <a:r>
              <a:rPr lang="en-US" sz="1800" dirty="0">
                <a:solidFill>
                  <a:srgbClr val="000000"/>
                </a:solidFill>
                <a:latin typeface="Arial" pitchFamily="34" charset="0"/>
                <a:ea typeface="Arial" pitchFamily="34" charset="-122"/>
                <a:cs typeface="Arial" pitchFamily="34" charset="-120"/>
              </a:rPr>
              <a:t>Tip: add a photo and a clear headline to your profile.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Card"/>
          <p:cNvSpPr/>
          <p:nvPr/>
        </p:nvSpPr>
        <p:spPr>
          <a:xfrm>
            <a:off x="365760" y="365760"/>
            <a:ext cx="11457432" cy="6126480"/>
          </a:xfrm>
          <a:prstGeom prst="roundRect">
            <a:avLst>
              <a:gd name="adj" fmla="val 3731"/>
            </a:avLst>
          </a:prstGeom>
          <a:solidFill>
            <a:srgbClr val="000000"/>
          </a:solidFill>
          <a:ln w="31750">
            <a:solidFill>
              <a:srgbClr val="000000"/>
            </a:solidFill>
            <a:prstDash val="solid"/>
          </a:ln>
        </p:spPr>
      </p:sp>
      <p:sp>
        <p:nvSpPr>
          <p:cNvPr id="3" name="Plate"/>
          <p:cNvSpPr/>
          <p:nvPr/>
        </p:nvSpPr>
        <p:spPr>
          <a:xfrm>
            <a:off x="822960" y="822960"/>
            <a:ext cx="5669280" cy="868680"/>
          </a:xfrm>
          <a:prstGeom prst="rect">
            <a:avLst/>
          </a:prstGeom>
          <a:solidFill>
            <a:srgbClr val="FFFFFF"/>
          </a:solidFill>
          <a:ln w="12700">
            <a:solidFill>
              <a:srgbClr val="FFFFFF"/>
            </a:solidFill>
            <a:prstDash val="solid"/>
          </a:ln>
        </p:spPr>
      </p:sp>
      <p:sp>
        <p:nvSpPr>
          <p:cNvPr id="4" name="Text 2"/>
          <p:cNvSpPr txBox="1"/>
          <p:nvPr/>
        </p:nvSpPr>
        <p:spPr>
          <a:xfrm>
            <a:off x="960120" y="822960"/>
            <a:ext cx="5394960" cy="868680"/>
          </a:xfrm>
          <a:prstGeom prst="rect">
            <a:avLst/>
          </a:prstGeom>
          <a:noFill/>
          <a:ln/>
        </p:spPr>
        <p:txBody>
          <a:bodyPr wrap="square" lIns="0" tIns="0" rIns="0" bIns="0" rtlCol="0" anchor="ctr">
            <a:normAutofit/>
          </a:bodyPr>
          <a:lstStyle/>
          <a:p>
            <a:pPr indent="0" marL="0">
              <a:buNone/>
            </a:pPr>
            <a:r>
              <a:rPr lang="en-US" sz="4000" dirty="0">
                <a:solidFill>
                  <a:srgbClr val="000000"/>
                </a:solidFill>
                <a:latin typeface="Arial Black" pitchFamily="34" charset="0"/>
                <a:ea typeface="Arial Black" pitchFamily="34" charset="-122"/>
                <a:cs typeface="Arial Black" pitchFamily="34" charset="-120"/>
              </a:rPr>
              <a:t>CONCLUSION</a:t>
            </a:r>
            <a:endParaRPr lang="en-US" sz="4000" dirty="0"/>
          </a:p>
        </p:txBody>
      </p:sp>
      <p:sp>
        <p:nvSpPr>
          <p:cNvPr id="5" name="Text 3"/>
          <p:cNvSpPr txBox="1"/>
          <p:nvPr/>
        </p:nvSpPr>
        <p:spPr>
          <a:xfrm>
            <a:off x="822960" y="2011680"/>
            <a:ext cx="5852160" cy="2377440"/>
          </a:xfrm>
          <a:prstGeom prst="rect">
            <a:avLst/>
          </a:prstGeom>
          <a:noFill/>
          <a:ln/>
        </p:spPr>
        <p:txBody>
          <a:bodyPr wrap="square" lIns="0" tIns="0" rIns="0" bIns="0" rtlCol="0" anchor="t"/>
          <a:lstStyle/>
          <a:p>
            <a:pPr indent="0" marL="0">
              <a:spcAft>
                <a:spcPts val="1200"/>
              </a:spcAft>
              <a:buNone/>
            </a:pPr>
            <a:r>
              <a:rPr lang="en-US" sz="2000" dirty="0">
                <a:solidFill>
                  <a:srgbClr val="FFFFFF"/>
                </a:solidFill>
                <a:latin typeface="Arial" pitchFamily="34" charset="0"/>
                <a:ea typeface="Arial" pitchFamily="34" charset="-122"/>
                <a:cs typeface="Arial" pitchFamily="34" charset="-120"/>
              </a:rPr>
              <a:t>Started in a living room in </a:t>
            </a:r>
            <a:pPr indent="0" marL="0">
              <a:spcAft>
                <a:spcPts val="1200"/>
              </a:spcAft>
              <a:buNone/>
            </a:pPr>
            <a:r>
              <a:rPr lang="en-US" sz="2000" b="1" dirty="0">
                <a:solidFill>
                  <a:srgbClr val="FFFFFF"/>
                </a:solidFill>
                <a:highlight>
                  <a:srgbClr val="0A66C2"/>
                </a:highlight>
                <a:latin typeface="Arial" pitchFamily="34" charset="0"/>
                <a:ea typeface="Arial" pitchFamily="34" charset="-122"/>
                <a:cs typeface="Arial" pitchFamily="34" charset="-120"/>
              </a:rPr>
              <a:t>2002</a:t>
            </a:r>
            <a:pPr indent="0" marL="0">
              <a:spcAft>
                <a:spcPts val="1200"/>
              </a:spcAft>
              <a:buNone/>
            </a:pPr>
            <a:r>
              <a:rPr lang="en-US" sz="2000" dirty="0">
                <a:solidFill>
                  <a:srgbClr val="FFFFFF"/>
                </a:solidFill>
                <a:latin typeface="Arial" pitchFamily="34" charset="0"/>
                <a:ea typeface="Arial" pitchFamily="34" charset="-122"/>
                <a:cs typeface="Arial" pitchFamily="34" charset="-120"/>
              </a:rPr>
              <a:t>.</a:t>
            </a:r>
            <a:endParaRPr lang="en-US" sz="2000" dirty="0"/>
          </a:p>
          <a:p>
            <a:pPr indent="0" marL="0">
              <a:spcAft>
                <a:spcPts val="1200"/>
              </a:spcAft>
              <a:buNone/>
            </a:pPr>
            <a:r>
              <a:rPr lang="en-US" sz="2000" dirty="0">
                <a:solidFill>
                  <a:srgbClr val="FFFFFF"/>
                </a:solidFill>
                <a:latin typeface="Arial" pitchFamily="34" charset="0"/>
                <a:ea typeface="Arial" pitchFamily="34" charset="-122"/>
                <a:cs typeface="Arial" pitchFamily="34" charset="-120"/>
              </a:rPr>
              <a:t>Bought by Microsoft in </a:t>
            </a:r>
            <a:pPr indent="0" marL="0">
              <a:spcAft>
                <a:spcPts val="1200"/>
              </a:spcAft>
              <a:buNone/>
            </a:pPr>
            <a:r>
              <a:rPr lang="en-US" sz="2000" b="1" dirty="0">
                <a:solidFill>
                  <a:srgbClr val="FFFFFF"/>
                </a:solidFill>
                <a:highlight>
                  <a:srgbClr val="0A66C2"/>
                </a:highlight>
                <a:latin typeface="Arial" pitchFamily="34" charset="0"/>
                <a:ea typeface="Arial" pitchFamily="34" charset="-122"/>
                <a:cs typeface="Arial" pitchFamily="34" charset="-120"/>
              </a:rPr>
              <a:t>2016</a:t>
            </a:r>
            <a:pPr indent="0" marL="0">
              <a:spcAft>
                <a:spcPts val="1200"/>
              </a:spcAft>
              <a:buNone/>
            </a:pPr>
            <a:r>
              <a:rPr lang="en-US" sz="2000" dirty="0">
                <a:solidFill>
                  <a:srgbClr val="FFFFFF"/>
                </a:solidFill>
                <a:latin typeface="Arial" pitchFamily="34" charset="0"/>
                <a:ea typeface="Arial" pitchFamily="34" charset="-122"/>
                <a:cs typeface="Arial" pitchFamily="34" charset="-120"/>
              </a:rPr>
              <a:t>.</a:t>
            </a:r>
            <a:endParaRPr lang="en-US" sz="2000" dirty="0"/>
          </a:p>
          <a:p>
            <a:pPr indent="0" marL="0">
              <a:spcAft>
                <a:spcPts val="1200"/>
              </a:spcAft>
              <a:buNone/>
            </a:pPr>
            <a:r>
              <a:rPr lang="en-US" sz="2000" dirty="0">
                <a:solidFill>
                  <a:srgbClr val="FFFFFF"/>
                </a:solidFill>
                <a:latin typeface="Arial" pitchFamily="34" charset="0"/>
                <a:ea typeface="Arial" pitchFamily="34" charset="-122"/>
                <a:cs typeface="Arial" pitchFamily="34" charset="-120"/>
              </a:rPr>
              <a:t>Today: </a:t>
            </a:r>
            <a:pPr indent="0" marL="0">
              <a:spcAft>
                <a:spcPts val="1200"/>
              </a:spcAft>
              <a:buNone/>
            </a:pPr>
            <a:r>
              <a:rPr lang="en-US" sz="2000" b="1" dirty="0">
                <a:solidFill>
                  <a:srgbClr val="FFFFFF"/>
                </a:solidFill>
                <a:highlight>
                  <a:srgbClr val="0A66C2"/>
                </a:highlight>
                <a:latin typeface="Arial" pitchFamily="34" charset="0"/>
                <a:ea typeface="Arial" pitchFamily="34" charset="-122"/>
                <a:cs typeface="Arial" pitchFamily="34" charset="-120"/>
              </a:rPr>
              <a:t>1 billion</a:t>
            </a:r>
            <a:pPr indent="0" marL="0">
              <a:spcAft>
                <a:spcPts val="1200"/>
              </a:spcAft>
              <a:buNone/>
            </a:pPr>
            <a:r>
              <a:rPr lang="en-US" sz="2000" dirty="0">
                <a:solidFill>
                  <a:srgbClr val="FFFFFF"/>
                </a:solidFill>
                <a:latin typeface="Arial" pitchFamily="34" charset="0"/>
                <a:ea typeface="Arial" pitchFamily="34" charset="-122"/>
                <a:cs typeface="Arial" pitchFamily="34" charset="-120"/>
              </a:rPr>
              <a:t> people connect for work and careers.</a:t>
            </a:r>
            <a:endParaRPr lang="en-US" sz="2000" dirty="0"/>
          </a:p>
        </p:txBody>
      </p:sp>
      <p:sp>
        <p:nvSpPr>
          <p:cNvPr id="6" name="Blue block"/>
          <p:cNvSpPr/>
          <p:nvPr/>
        </p:nvSpPr>
        <p:spPr>
          <a:xfrm>
            <a:off x="6949440" y="822960"/>
            <a:ext cx="4343400" cy="5212080"/>
          </a:xfrm>
          <a:prstGeom prst="rect">
            <a:avLst/>
          </a:prstGeom>
          <a:solidFill>
            <a:srgbClr val="0A66C2"/>
          </a:solidFill>
          <a:ln w="12700">
            <a:solidFill>
              <a:srgbClr val="0A66C2"/>
            </a:solidFill>
            <a:prstDash val="solid"/>
          </a:ln>
        </p:spPr>
      </p:sp>
      <p:sp>
        <p:nvSpPr>
          <p:cNvPr id="7" name="Text 5"/>
          <p:cNvSpPr txBox="1"/>
          <p:nvPr/>
        </p:nvSpPr>
        <p:spPr>
          <a:xfrm>
            <a:off x="7132320" y="1371600"/>
            <a:ext cx="3977640" cy="2194560"/>
          </a:xfrm>
          <a:prstGeom prst="rect">
            <a:avLst/>
          </a:prstGeom>
          <a:noFill/>
          <a:ln/>
        </p:spPr>
        <p:txBody>
          <a:bodyPr wrap="square" lIns="0" tIns="0" rIns="0" bIns="0" rtlCol="0" anchor="ctr">
            <a:normAutofit/>
          </a:bodyPr>
          <a:lstStyle/>
          <a:p>
            <a:pPr indent="0" marL="0">
              <a:buNone/>
            </a:pPr>
            <a:r>
              <a:rPr lang="en-US" sz="4400" dirty="0">
                <a:solidFill>
                  <a:srgbClr val="FFFFFF"/>
                </a:solidFill>
                <a:latin typeface="Arial Black" pitchFamily="34" charset="0"/>
                <a:ea typeface="Arial Black" pitchFamily="34" charset="-122"/>
                <a:cs typeface="Arial Black" pitchFamily="34" charset="-120"/>
              </a:rPr>
              <a:t>THANK YOU!</a:t>
            </a:r>
            <a:endParaRPr lang="en-US" sz="4400" dirty="0"/>
          </a:p>
        </p:txBody>
      </p:sp>
      <p:sp>
        <p:nvSpPr>
          <p:cNvPr id="8" name="Text 6"/>
          <p:cNvSpPr txBox="1"/>
          <p:nvPr/>
        </p:nvSpPr>
        <p:spPr>
          <a:xfrm>
            <a:off x="7132320" y="3840480"/>
            <a:ext cx="3977640" cy="91440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Any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LinkedIn: the story of a professional network</dc:title>
  <dc:subject>PptxGenJS Presentation</dc:subject>
  <dc:creator>PptxGenJS</dc:creator>
  <cp:lastModifiedBy>PptxGenJS</cp:lastModifiedBy>
  <cp:revision>1</cp:revision>
  <dcterms:created xsi:type="dcterms:W3CDTF">2026-10-12T16:14:06Z</dcterms:created>
  <dcterms:modified xsi:type="dcterms:W3CDTF">2026-10-12T16:14:06Z</dcterms:modified>
</cp:coreProperties>
</file>